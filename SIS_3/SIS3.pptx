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Marcellus" panose="020B0604020202020204" charset="0"/>
      <p:regular r:id="rId13"/>
    </p:embeddedFont>
    <p:embeddedFont>
      <p:font typeface="Montserrat" panose="00000500000000000000" pitchFamily="2" charset="-52"/>
      <p:regular r:id="rId14"/>
    </p:embeddedFont>
  </p:embeddedFontLst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70" y="-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6975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Relationship Id="rId9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73498"/>
            <a:ext cx="12834937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SIS3: Generative Model for Text Generation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3461385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Character-level language modelling on Shakespeare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011335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Exercise title: SIS3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61284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Students name: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11234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Khalimov Rustam, Kaliyev Alpamys, Baimyrza Nurlybek, Kuat Adilet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661184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Date: April 2</a:t>
            </a:r>
            <a:r>
              <a:rPr lang="ru-RU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2026</a:t>
            </a:r>
            <a:endParaRPr lang="en-US" sz="175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5C5FDE7-EB0D-C44F-BD47-966212725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0397" y="7505599"/>
            <a:ext cx="1810003" cy="7240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7817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Problem Overview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3952518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Text Generation Task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793790" y="4603194"/>
            <a:ext cx="6244709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Character-level text generation predicts the next character in a sequence, with the goal of building coherent prose one character at a time.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52518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Dataset &amp; Baseline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7599521" y="4603194"/>
            <a:ext cx="6244709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Tiny Shakespeare provides a compact but expressive corpus for training. We use an LSTM baseline as the reference model for generating text.</a:t>
            </a:r>
            <a:endParaRPr lang="en-US" sz="175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3FCE681-F854-3F70-9724-7C49C51DC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0397" y="7505599"/>
            <a:ext cx="1810003" cy="7240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54554" y="1519952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Baseline Architecture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793790" y="2821305"/>
            <a:ext cx="4196358" cy="1943695"/>
          </a:xfrm>
          <a:prstGeom prst="roundRect">
            <a:avLst>
              <a:gd name="adj" fmla="val 4901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3464" y="3070979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Architecture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043464" y="3630930"/>
            <a:ext cx="3697010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Embedding → stacked LSTM → dropout → dense softmax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821305"/>
            <a:ext cx="4196358" cy="1943695"/>
          </a:xfrm>
          <a:prstGeom prst="roundRect">
            <a:avLst>
              <a:gd name="adj" fmla="val 4901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6636" y="3070979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Hyperparameters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5466636" y="3630930"/>
            <a:ext cx="3697010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Adam optimizer, learning rate 0.001, batch size 64, cross-entropy loss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821305"/>
            <a:ext cx="4196358" cy="1943695"/>
          </a:xfrm>
          <a:prstGeom prst="roundRect">
            <a:avLst>
              <a:gd name="adj" fmla="val 4901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89808" y="3070979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Baseline Performance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889808" y="3630930"/>
            <a:ext cx="369701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Val. Loss 1.94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889808" y="4061817"/>
            <a:ext cx="3697010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Perplexity 6.96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020151"/>
            <a:ext cx="13042821" cy="1689378"/>
          </a:xfrm>
          <a:prstGeom prst="roundRect">
            <a:avLst>
              <a:gd name="adj" fmla="val 5639"/>
            </a:avLst>
          </a:prstGeom>
          <a:solidFill>
            <a:srgbClr val="B6D6FC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333762"/>
            <a:ext cx="283488" cy="22681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30906" y="5303639"/>
            <a:ext cx="1207889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sequence predicts the next character — the model learns the probability distribution of character transitions.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1530906" y="6097310"/>
            <a:ext cx="1207889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results also highlight the model's limitations on long-range structure and coherent generation.</a:t>
            </a:r>
            <a:endParaRPr lang="en-US" sz="175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D9BC6CD0-4F62-85AC-7EAB-DACA926E4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0397" y="7505599"/>
            <a:ext cx="1810003" cy="7240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0568" y="533400"/>
            <a:ext cx="7880985" cy="609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6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Modification 1: Attention Mechanism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201" y="1377077"/>
            <a:ext cx="8747879" cy="400359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40583" y="2376667"/>
            <a:ext cx="562446" cy="56244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39480" y="4209888"/>
            <a:ext cx="1642341" cy="75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2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Dense Softmax</a:t>
            </a:r>
            <a:endParaRPr lang="en-US" sz="22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1507" y="2377722"/>
            <a:ext cx="562445" cy="56244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569681" y="4399010"/>
            <a:ext cx="1642340" cy="37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2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Attention</a:t>
            </a:r>
            <a:endParaRPr lang="en-US" sz="22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22956" y="2377722"/>
            <a:ext cx="562446" cy="56244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511131" y="4209888"/>
            <a:ext cx="1642341" cy="756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2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Stacked LSTM</a:t>
            </a:r>
            <a:endParaRPr lang="en-US" sz="22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3157" y="2377722"/>
            <a:ext cx="562445" cy="56244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3407585" y="4399010"/>
            <a:ext cx="1642340" cy="378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2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Embedding</a:t>
            </a:r>
            <a:endParaRPr lang="en-US" sz="2250" dirty="0"/>
          </a:p>
        </p:txBody>
      </p:sp>
      <p:sp>
        <p:nvSpPr>
          <p:cNvPr id="12" name="Text 5"/>
          <p:cNvSpPr/>
          <p:nvPr/>
        </p:nvSpPr>
        <p:spPr>
          <a:xfrm>
            <a:off x="1690568" y="5512475"/>
            <a:ext cx="11249144" cy="18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Attention layer inserted before the final dense layer to focus on relevant positions and capture long-range dependencies.</a:t>
            </a:r>
            <a:endParaRPr lang="en-US" sz="1250" dirty="0"/>
          </a:p>
        </p:txBody>
      </p:sp>
      <p:sp>
        <p:nvSpPr>
          <p:cNvPr id="13" name="Text 6"/>
          <p:cNvSpPr/>
          <p:nvPr/>
        </p:nvSpPr>
        <p:spPr>
          <a:xfrm>
            <a:off x="1690568" y="5870258"/>
            <a:ext cx="2343507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Results</a:t>
            </a:r>
            <a:endParaRPr lang="en-US" sz="1800" dirty="0"/>
          </a:p>
        </p:txBody>
      </p:sp>
      <p:sp>
        <p:nvSpPr>
          <p:cNvPr id="14" name="Text 7"/>
          <p:cNvSpPr/>
          <p:nvPr/>
        </p:nvSpPr>
        <p:spPr>
          <a:xfrm>
            <a:off x="1690568" y="6431994"/>
            <a:ext cx="5551289" cy="53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1.82</a:t>
            </a:r>
            <a:endParaRPr lang="en-US" sz="4200" dirty="0"/>
          </a:p>
        </p:txBody>
      </p:sp>
      <p:sp>
        <p:nvSpPr>
          <p:cNvPr id="15" name="Text 8"/>
          <p:cNvSpPr/>
          <p:nvPr/>
        </p:nvSpPr>
        <p:spPr>
          <a:xfrm>
            <a:off x="3294459" y="7139226"/>
            <a:ext cx="2343507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Val. Loss</a:t>
            </a:r>
            <a:endParaRPr lang="en-US" sz="1800" dirty="0"/>
          </a:p>
        </p:txBody>
      </p:sp>
      <p:sp>
        <p:nvSpPr>
          <p:cNvPr id="16" name="Text 9"/>
          <p:cNvSpPr/>
          <p:nvPr/>
        </p:nvSpPr>
        <p:spPr>
          <a:xfrm>
            <a:off x="1690568" y="7514034"/>
            <a:ext cx="5551289" cy="18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vs 1.94 baseline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7388304" y="6431994"/>
            <a:ext cx="5551408" cy="53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6.17</a:t>
            </a:r>
            <a:endParaRPr lang="en-US" sz="4200" dirty="0"/>
          </a:p>
        </p:txBody>
      </p:sp>
      <p:sp>
        <p:nvSpPr>
          <p:cNvPr id="18" name="Text 11"/>
          <p:cNvSpPr/>
          <p:nvPr/>
        </p:nvSpPr>
        <p:spPr>
          <a:xfrm>
            <a:off x="8992195" y="7139226"/>
            <a:ext cx="2343507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Perplexity</a:t>
            </a:r>
            <a:endParaRPr lang="en-US" sz="1800" dirty="0"/>
          </a:p>
        </p:txBody>
      </p:sp>
      <p:sp>
        <p:nvSpPr>
          <p:cNvPr id="19" name="Text 12"/>
          <p:cNvSpPr/>
          <p:nvPr/>
        </p:nvSpPr>
        <p:spPr>
          <a:xfrm>
            <a:off x="7388304" y="7514034"/>
            <a:ext cx="5551408" cy="18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vs 6.96 baseline</a:t>
            </a:r>
            <a:endParaRPr lang="en-US" sz="1250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1E95554F-E2BD-D716-57AB-E62E30E27E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20397" y="7505599"/>
            <a:ext cx="1810003" cy="7240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5002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Model Modifications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93790" y="2152888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targeted modifications — each addressing a specific weakness of the baseline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702838"/>
            <a:ext cx="13042821" cy="1369338"/>
          </a:xfrm>
          <a:prstGeom prst="roundRect">
            <a:avLst>
              <a:gd name="adj" fmla="val 6957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4270" y="2733318"/>
            <a:ext cx="907256" cy="1308378"/>
          </a:xfrm>
          <a:prstGeom prst="roundRect">
            <a:avLst>
              <a:gd name="adj" fmla="val 6469"/>
            </a:avLst>
          </a:prstGeom>
          <a:solidFill>
            <a:srgbClr val="FFFFF4"/>
          </a:solidFill>
          <a:ln/>
        </p:spPr>
      </p:sp>
      <p:sp>
        <p:nvSpPr>
          <p:cNvPr id="6" name="Text 4"/>
          <p:cNvSpPr/>
          <p:nvPr/>
        </p:nvSpPr>
        <p:spPr>
          <a:xfrm>
            <a:off x="1096328" y="3166348"/>
            <a:ext cx="340162" cy="442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958340" y="2960132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Attention Mechanism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958340" y="3520083"/>
            <a:ext cx="1162097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on relevant positions in the sequence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298990"/>
            <a:ext cx="13042821" cy="1369338"/>
          </a:xfrm>
          <a:prstGeom prst="roundRect">
            <a:avLst>
              <a:gd name="adj" fmla="val 6957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270" y="4329470"/>
            <a:ext cx="907256" cy="1308378"/>
          </a:xfrm>
          <a:prstGeom prst="roundRect">
            <a:avLst>
              <a:gd name="adj" fmla="val 6469"/>
            </a:avLst>
          </a:prstGeom>
          <a:solidFill>
            <a:srgbClr val="FFFFF4"/>
          </a:solidFill>
          <a:ln/>
        </p:spPr>
      </p:sp>
      <p:sp>
        <p:nvSpPr>
          <p:cNvPr id="11" name="Text 9"/>
          <p:cNvSpPr/>
          <p:nvPr/>
        </p:nvSpPr>
        <p:spPr>
          <a:xfrm>
            <a:off x="1096328" y="4762500"/>
            <a:ext cx="340162" cy="442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1958340" y="4556284"/>
            <a:ext cx="3936802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GRU + Optimised Dropout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958340" y="5116235"/>
            <a:ext cx="1162097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Lighter architecture, faster training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3790" y="5895142"/>
            <a:ext cx="13042821" cy="1369338"/>
          </a:xfrm>
          <a:prstGeom prst="roundRect">
            <a:avLst>
              <a:gd name="adj" fmla="val 6957"/>
            </a:avLst>
          </a:prstGeom>
          <a:solidFill>
            <a:srgbClr val="FFFFF4">
              <a:alpha val="95000"/>
            </a:srgbClr>
          </a:solidFill>
          <a:ln w="30480">
            <a:solidFill>
              <a:srgbClr val="FFE0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270" y="5925622"/>
            <a:ext cx="907256" cy="1308378"/>
          </a:xfrm>
          <a:prstGeom prst="roundRect">
            <a:avLst>
              <a:gd name="adj" fmla="val 6469"/>
            </a:avLst>
          </a:prstGeom>
          <a:solidFill>
            <a:srgbClr val="FFFFF4"/>
          </a:solidFill>
          <a:ln/>
        </p:spPr>
      </p:sp>
      <p:sp>
        <p:nvSpPr>
          <p:cNvPr id="16" name="Text 14"/>
          <p:cNvSpPr/>
          <p:nvPr/>
        </p:nvSpPr>
        <p:spPr>
          <a:xfrm>
            <a:off x="1096328" y="6358652"/>
            <a:ext cx="340162" cy="442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1958340" y="6152436"/>
            <a:ext cx="4173617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Deep LSTM + Regularisation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958340" y="6712387"/>
            <a:ext cx="1162097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Hierarchical patterns, highest capacity</a:t>
            </a:r>
            <a:endParaRPr lang="en-US" sz="175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1606D29-6165-C6F6-E8B1-5766E9513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0397" y="7505599"/>
            <a:ext cx="1810003" cy="7240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67703"/>
            <a:ext cx="7907417" cy="821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450"/>
              </a:lnSpc>
              <a:buNone/>
            </a:pPr>
            <a:r>
              <a:rPr lang="en-US" sz="49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4.1 — Attention Mechanism</a:t>
            </a:r>
            <a:endParaRPr lang="en-US" sz="4950" dirty="0"/>
          </a:p>
        </p:txBody>
      </p:sp>
      <p:sp>
        <p:nvSpPr>
          <p:cNvPr id="3" name="Text 1"/>
          <p:cNvSpPr/>
          <p:nvPr/>
        </p:nvSpPr>
        <p:spPr>
          <a:xfrm>
            <a:off x="769025" y="1574006"/>
            <a:ext cx="3158728" cy="41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Design Choice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769025" y="2303740"/>
            <a:ext cx="13092351" cy="562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Attention layer inserted </a:t>
            </a:r>
            <a:r>
              <a:rPr lang="en-US" sz="17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</a:t>
            </a: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the final dense layer — weights each timestep's contribution to the next-character prediction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9025" y="3185398"/>
            <a:ext cx="3158728" cy="41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Motivation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769025" y="3915132"/>
            <a:ext cx="13092351" cy="562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all positions contribute equally; attending to the most relevant context captures long-range dependencies that vanilla LSTM misses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9025" y="4796790"/>
            <a:ext cx="3158728" cy="41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Outcome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769025" y="5636300"/>
            <a:ext cx="6413182" cy="725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700"/>
              </a:lnSpc>
              <a:buNone/>
            </a:pPr>
            <a:r>
              <a:rPr lang="en-US" sz="57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1.82</a:t>
            </a:r>
            <a:endParaRPr lang="en-US" sz="5700" dirty="0"/>
          </a:p>
        </p:txBody>
      </p:sp>
      <p:sp>
        <p:nvSpPr>
          <p:cNvPr id="9" name="Text 7"/>
          <p:cNvSpPr/>
          <p:nvPr/>
        </p:nvSpPr>
        <p:spPr>
          <a:xfrm>
            <a:off x="2396252" y="6630710"/>
            <a:ext cx="3158728" cy="41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Val. Loss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7448193" y="5636300"/>
            <a:ext cx="6413182" cy="725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700"/>
              </a:lnSpc>
              <a:buNone/>
            </a:pPr>
            <a:r>
              <a:rPr lang="en-US" sz="57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6.17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9075420" y="6630710"/>
            <a:ext cx="3158728" cy="41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Perplexity</a:t>
            </a:r>
            <a:endParaRPr lang="en-US" sz="2450" dirty="0"/>
          </a:p>
        </p:txBody>
      </p:sp>
      <p:sp>
        <p:nvSpPr>
          <p:cNvPr id="12" name="Text 10"/>
          <p:cNvSpPr/>
          <p:nvPr/>
        </p:nvSpPr>
        <p:spPr>
          <a:xfrm>
            <a:off x="769025" y="7280672"/>
            <a:ext cx="13092351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More coherent sentences · fewer abrupt transitions · better long-range structure</a:t>
            </a:r>
            <a:endParaRPr lang="en-US" sz="17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50B9034-26F2-16D9-AAFD-E982AFB1C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0397" y="7505599"/>
            <a:ext cx="1810003" cy="7240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64876" y="594003"/>
            <a:ext cx="10900529" cy="688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Modification 2: GRU with Optimised Dropout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956905" y="1342668"/>
            <a:ext cx="2649260" cy="344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What was changed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956905" y="1911548"/>
            <a:ext cx="12716470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LSTM layers were replaced with </a:t>
            </a:r>
            <a:r>
              <a:rPr lang="en-US" sz="14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 units</a:t>
            </a: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reducing the number of parameters in the model.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56905" y="2353151"/>
            <a:ext cx="2649260" cy="344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Why it helps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956905" y="2922032"/>
            <a:ext cx="12716470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led to </a:t>
            </a:r>
            <a:r>
              <a:rPr lang="en-US" sz="14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faster convergence</a:t>
            </a: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lower compute requirements during training.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56905" y="3363635"/>
            <a:ext cx="2649260" cy="344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Performance metrics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956905" y="3932515"/>
            <a:ext cx="12716470" cy="434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Val. Loss:</a:t>
            </a: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1.87</a:t>
            </a:r>
            <a:endParaRPr lang="en-US" sz="1450" dirty="0"/>
          </a:p>
          <a:p>
            <a:pPr marL="0" indent="0" algn="l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Perplexity:</a:t>
            </a: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6.49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56905" y="4591169"/>
            <a:ext cx="2649260" cy="344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advantage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956905" y="5160050"/>
            <a:ext cx="12716470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Significant training time reduction.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956905" y="5545455"/>
            <a:ext cx="12716470" cy="856417"/>
          </a:xfrm>
          <a:prstGeom prst="roundRect">
            <a:avLst>
              <a:gd name="adj" fmla="val 9038"/>
            </a:avLst>
          </a:prstGeom>
          <a:solidFill>
            <a:srgbClr val="FFD1B3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095" y="5782032"/>
            <a:ext cx="230267" cy="18419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55552" y="5741075"/>
            <a:ext cx="11933634" cy="434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Comparison note:</a:t>
            </a:r>
            <a:r>
              <a:rPr lang="en-US" sz="14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Compared with the baseline, this modification improves efficiency while maintaining strong validation performance.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956905" y="6570226"/>
            <a:ext cx="6283404" cy="1065252"/>
          </a:xfrm>
          <a:prstGeom prst="roundRect">
            <a:avLst>
              <a:gd name="adj" fmla="val 7266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63955" y="6777276"/>
            <a:ext cx="2649260" cy="344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Val. Loss: 1.87</a:t>
            </a:r>
            <a:endParaRPr lang="en-US" sz="2050" dirty="0"/>
          </a:p>
        </p:txBody>
      </p:sp>
      <p:sp>
        <p:nvSpPr>
          <p:cNvPr id="16" name="Text 13"/>
          <p:cNvSpPr/>
          <p:nvPr/>
        </p:nvSpPr>
        <p:spPr>
          <a:xfrm>
            <a:off x="1163955" y="7211377"/>
            <a:ext cx="5869305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Perplexity ≈ 6.49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7389971" y="6570226"/>
            <a:ext cx="6283404" cy="1065252"/>
          </a:xfrm>
          <a:prstGeom prst="roundRect">
            <a:avLst>
              <a:gd name="adj" fmla="val 7266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97021" y="6777276"/>
            <a:ext cx="2649260" cy="344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Faster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7597021" y="7211377"/>
            <a:ext cx="5869305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Significant training time reduction</a:t>
            </a:r>
            <a:endParaRPr lang="en-US" sz="1450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1FB703D5-8EEE-64E9-6107-2D1D89F37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0397" y="7803832"/>
            <a:ext cx="1810003" cy="4257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57895" y="456962"/>
            <a:ext cx="7369135" cy="450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7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Modification 3: Deep LSTM with Regularisation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157895" y="932974"/>
            <a:ext cx="1732121" cy="22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What was changed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157895" y="1254085"/>
            <a:ext cx="8314611" cy="11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Additional LSTM layers + stronger regularisation (</a:t>
            </a: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L2</a:t>
            </a: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+ </a:t>
            </a: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recurrent dropout</a:t>
            </a: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157895" y="1469946"/>
            <a:ext cx="1732121" cy="22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Why it helps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157895" y="1791057"/>
            <a:ext cx="8314611" cy="11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Deeper hierarchy captures more abstract patterns in the character sequence.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010" y="1982867"/>
            <a:ext cx="7612261" cy="45814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719122" y="5354708"/>
            <a:ext cx="1255469" cy="559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2-layer LSTM</a:t>
            </a:r>
            <a:endParaRPr lang="en-US" sz="16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1855" y="4162116"/>
            <a:ext cx="415718" cy="4157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99208" y="4951461"/>
            <a:ext cx="1255469" cy="559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3-layer LSTM</a:t>
            </a:r>
            <a:endParaRPr lang="en-US" sz="16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1812" y="3771341"/>
            <a:ext cx="415718" cy="4157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87480" y="4560686"/>
            <a:ext cx="1255469" cy="559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Deep LSTM + L2</a:t>
            </a:r>
            <a:endParaRPr lang="en-US" sz="1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1769" y="3380566"/>
            <a:ext cx="415718" cy="4157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158992" y="4030125"/>
            <a:ext cx="1255469" cy="838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Deep LSTM + Recurrent Dropout</a:t>
            </a:r>
            <a:endParaRPr lang="en-US" sz="16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81725" y="2989791"/>
            <a:ext cx="415718" cy="4157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638948" y="3639350"/>
            <a:ext cx="1255469" cy="838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Richer Representations</a:t>
            </a:r>
            <a:endParaRPr lang="en-US" sz="16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9997" y="2574072"/>
            <a:ext cx="415718" cy="41571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157895" y="6660237"/>
            <a:ext cx="1732121" cy="22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Best-in-class results</a:t>
            </a:r>
            <a:endParaRPr lang="en-US" sz="1350" dirty="0"/>
          </a:p>
        </p:txBody>
      </p:sp>
      <p:sp>
        <p:nvSpPr>
          <p:cNvPr id="19" name="Text 11"/>
          <p:cNvSpPr/>
          <p:nvPr/>
        </p:nvSpPr>
        <p:spPr>
          <a:xfrm>
            <a:off x="3157895" y="7041594"/>
            <a:ext cx="4117300" cy="397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3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1.80</a:t>
            </a:r>
            <a:endParaRPr lang="en-US" sz="3100" dirty="0"/>
          </a:p>
        </p:txBody>
      </p:sp>
      <p:sp>
        <p:nvSpPr>
          <p:cNvPr id="20" name="Text 12"/>
          <p:cNvSpPr/>
          <p:nvPr/>
        </p:nvSpPr>
        <p:spPr>
          <a:xfrm>
            <a:off x="4350425" y="7547372"/>
            <a:ext cx="1732121" cy="22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Val. Loss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7355205" y="7041594"/>
            <a:ext cx="4117300" cy="397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3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6.05</a:t>
            </a:r>
            <a:endParaRPr lang="en-US" sz="3100" dirty="0"/>
          </a:p>
        </p:txBody>
      </p:sp>
      <p:sp>
        <p:nvSpPr>
          <p:cNvPr id="22" name="Text 14"/>
          <p:cNvSpPr/>
          <p:nvPr/>
        </p:nvSpPr>
        <p:spPr>
          <a:xfrm>
            <a:off x="8547735" y="7547372"/>
            <a:ext cx="1732121" cy="22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Perplexity</a:t>
            </a:r>
            <a:endParaRPr lang="en-US" sz="1350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ADA72D6-ED64-1051-96E8-CDB94F0502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20397" y="7505599"/>
            <a:ext cx="1810003" cy="7240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611" y="570905"/>
            <a:ext cx="5706070" cy="7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Comparative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11" y="1768316"/>
            <a:ext cx="7750969" cy="38791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63951" y="2269331"/>
            <a:ext cx="212050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6.96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7602568" y="3134201"/>
            <a:ext cx="212051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6.49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7305601" y="3999071"/>
            <a:ext cx="212050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6.17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7174592" y="4863941"/>
            <a:ext cx="212050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6.05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8937308" y="1746647"/>
            <a:ext cx="2852976" cy="370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Trade-offs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37308" y="2291001"/>
            <a:ext cx="5005983" cy="386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choice depends on performance goals, available compute, and time constraints — no single winner.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94611" y="6499384"/>
            <a:ext cx="4297918" cy="1159193"/>
          </a:xfrm>
          <a:prstGeom prst="roundRect">
            <a:avLst>
              <a:gd name="adj" fmla="val 9466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1751" y="6499384"/>
            <a:ext cx="91440" cy="1159193"/>
          </a:xfrm>
          <a:prstGeom prst="roundRect">
            <a:avLst>
              <a:gd name="adj" fmla="val 91163"/>
            </a:avLst>
          </a:prstGeom>
          <a:solidFill>
            <a:srgbClr val="FF954F"/>
          </a:solidFill>
          <a:ln/>
        </p:spPr>
      </p:sp>
      <p:sp>
        <p:nvSpPr>
          <p:cNvPr id="12" name="Text 9"/>
          <p:cNvSpPr/>
          <p:nvPr/>
        </p:nvSpPr>
        <p:spPr>
          <a:xfrm>
            <a:off x="984409" y="6720602"/>
            <a:ext cx="2852976" cy="370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Deep LSTM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84409" y="7195542"/>
            <a:ext cx="3786902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Highest accuracy · highest cost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5166122" y="6499384"/>
            <a:ext cx="4298037" cy="1159193"/>
          </a:xfrm>
          <a:prstGeom prst="roundRect">
            <a:avLst>
              <a:gd name="adj" fmla="val 9466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143262" y="6499384"/>
            <a:ext cx="91440" cy="1159193"/>
          </a:xfrm>
          <a:prstGeom prst="roundRect">
            <a:avLst>
              <a:gd name="adj" fmla="val 91163"/>
            </a:avLst>
          </a:prstGeom>
          <a:solidFill>
            <a:srgbClr val="FF954F"/>
          </a:solidFill>
          <a:ln/>
        </p:spPr>
      </p:sp>
      <p:sp>
        <p:nvSpPr>
          <p:cNvPr id="16" name="Text 13"/>
          <p:cNvSpPr/>
          <p:nvPr/>
        </p:nvSpPr>
        <p:spPr>
          <a:xfrm>
            <a:off x="5455920" y="6720602"/>
            <a:ext cx="2852976" cy="370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Attention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455920" y="7195542"/>
            <a:ext cx="3787021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 coherence · moderate cost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9637752" y="6499384"/>
            <a:ext cx="4297918" cy="1159193"/>
          </a:xfrm>
          <a:prstGeom prst="roundRect">
            <a:avLst>
              <a:gd name="adj" fmla="val 9466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614892" y="6499384"/>
            <a:ext cx="91440" cy="1159193"/>
          </a:xfrm>
          <a:prstGeom prst="roundRect">
            <a:avLst>
              <a:gd name="adj" fmla="val 91163"/>
            </a:avLst>
          </a:prstGeom>
          <a:solidFill>
            <a:srgbClr val="FF954F"/>
          </a:solidFill>
          <a:ln/>
        </p:spPr>
      </p:sp>
      <p:sp>
        <p:nvSpPr>
          <p:cNvPr id="20" name="Text 17"/>
          <p:cNvSpPr/>
          <p:nvPr/>
        </p:nvSpPr>
        <p:spPr>
          <a:xfrm>
            <a:off x="9927550" y="6720602"/>
            <a:ext cx="2852976" cy="370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GRU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9927550" y="7195542"/>
            <a:ext cx="3786902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Resource-efficient · solid performance</a:t>
            </a:r>
            <a:endParaRPr lang="en-US" sz="1550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57BF6D7-5B8E-D37D-8943-96F6E99F8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0397" y="7746563"/>
            <a:ext cx="1810003" cy="3869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7319"/>
            <a:ext cx="6521291" cy="847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50"/>
              </a:lnSpc>
              <a:buNone/>
            </a:pPr>
            <a:r>
              <a:rPr lang="en-US" sz="5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Conclusions &amp; Insights</a:t>
            </a:r>
            <a:endParaRPr lang="en-US" sz="5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595205"/>
            <a:ext cx="453628" cy="453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332321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Deep LSTM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793790" y="3892272"/>
            <a:ext cx="6379607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overall results — perplexity 6.05 and the most natural, consistent prose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595205"/>
            <a:ext cx="453628" cy="4536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332321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Trade-offs</a:t>
            </a:r>
            <a:endParaRPr lang="en-US" sz="2550" dirty="0"/>
          </a:p>
        </p:txBody>
      </p:sp>
      <p:sp>
        <p:nvSpPr>
          <p:cNvPr id="8" name="Text 4"/>
          <p:cNvSpPr/>
          <p:nvPr/>
        </p:nvSpPr>
        <p:spPr>
          <a:xfrm>
            <a:off x="7456884" y="3892272"/>
            <a:ext cx="6379726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Better performance came with higher complexity and compute requirements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4935498"/>
            <a:ext cx="453628" cy="4536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672614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Lessons Learned</a:t>
            </a:r>
            <a:endParaRPr lang="en-US" sz="2550" dirty="0"/>
          </a:p>
        </p:txBody>
      </p:sp>
      <p:sp>
        <p:nvSpPr>
          <p:cNvPr id="11" name="Text 6"/>
          <p:cNvSpPr/>
          <p:nvPr/>
        </p:nvSpPr>
        <p:spPr>
          <a:xfrm>
            <a:off x="793790" y="6232565"/>
            <a:ext cx="6379607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Attention and Deep LSTM were both effective; GRU remained a strong option under resource constraints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4935498"/>
            <a:ext cx="453628" cy="4536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672614"/>
            <a:ext cx="3260646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Future Improvements</a:t>
            </a:r>
            <a:endParaRPr lang="en-US" sz="2550" dirty="0"/>
          </a:p>
        </p:txBody>
      </p:sp>
      <p:sp>
        <p:nvSpPr>
          <p:cNvPr id="14" name="Text 8"/>
          <p:cNvSpPr/>
          <p:nvPr/>
        </p:nvSpPr>
        <p:spPr>
          <a:xfrm>
            <a:off x="7456884" y="6232565"/>
            <a:ext cx="6379726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Very long sequences still need more advanced architectures for stronger context retention</a:t>
            </a:r>
            <a:endParaRPr lang="en-US" sz="175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E86AB64-E010-1FEF-70A8-AFB544D4FF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20397" y="7505599"/>
            <a:ext cx="1810003" cy="7240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</TotalTime>
  <Words>568</Words>
  <Application>Microsoft Office PowerPoint</Application>
  <PresentationFormat>Произвольный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-apple-system, BlinkMacSystemFont, Segoe UI, Roboto, Helvetica Neue, Arial, sans-serif Medium</vt:lpstr>
      <vt:lpstr>Arial</vt:lpstr>
      <vt:lpstr>Marcellus</vt:lpstr>
      <vt:lpstr>Montserrat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Khalimov Rustam</cp:lastModifiedBy>
  <cp:revision>4</cp:revision>
  <dcterms:created xsi:type="dcterms:W3CDTF">2026-04-23T05:12:13Z</dcterms:created>
  <dcterms:modified xsi:type="dcterms:W3CDTF">2026-04-23T18:06:46Z</dcterms:modified>
</cp:coreProperties>
</file>